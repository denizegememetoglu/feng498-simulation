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164592" cy="2926080"/>
          </a:xfrm>
          <a:prstGeom prst="rect">
            <a:avLst/>
          </a:prstGeom>
          <a:solidFill>
            <a:srgbClr val="2B7A3D"/>
          </a:solidFill>
          <a:ln w="12700">
            <a:solidFill>
              <a:srgbClr val="2B7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FENG 498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Slides &amp; Anticipated Questions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2487168"/>
            <a:ext cx="8321040" cy="36576"/>
          </a:xfrm>
          <a:prstGeom prst="rect">
            <a:avLst/>
          </a:prstGeom>
          <a:solidFill>
            <a:srgbClr val="2B7A3D"/>
          </a:solidFill>
          <a:ln w="12700">
            <a:solidFill>
              <a:srgbClr val="2B7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6060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backup for the jury. Mechanism deep-dive, sensitivity results, and 11 anticipated questions.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333756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E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(3 slides)   </a:t>
            </a:r>
            <a:pPr indent="0" marL="0">
              <a:buNone/>
            </a:pPr>
            <a:r>
              <a:rPr lang="en-US" sz="1200" b="1" dirty="0">
                <a:solidFill>
                  <a:srgbClr val="5FE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(1 slide)   </a:t>
            </a:r>
            <a:pPr indent="0" marL="0">
              <a:buNone/>
            </a:pPr>
            <a:r>
              <a:rPr lang="en-US" sz="1200" b="1" dirty="0">
                <a:solidFill>
                  <a:srgbClr val="5FE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Q&amp;A (11 slides)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6177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 Manisa  |  Supervisor: Dr. Oktay Karabag  |  IUE Industrial Engineering  |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B7A3D"/>
          </a:solidFill>
          <a:ln w="12700">
            <a:solidFill>
              <a:srgbClr val="2B7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2514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Deep-Dive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32004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section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463040" cy="310896"/>
          </a:xfrm>
          <a:prstGeom prst="rect">
            <a:avLst/>
          </a:prstGeom>
          <a:solidFill>
            <a:srgbClr val="1558A8"/>
          </a:solidFill>
          <a:ln w="12700">
            <a:solidFill>
              <a:srgbClr val="155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Line-aware Slotting actually works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243584"/>
            <a:ext cx="85039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8503920" cy="30220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Per-line ABC. Rank each material by how often that production line consumes it, not by total demand.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Kit co-location. Materials frequently picked together in a kit are placed in the same rack module or aisle.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Manual-band placement. Each line's frequent items go to levels 1-3 nearest that line's kitting corridor, no reach truck needed.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operator picks a whole kit at hand height, near the line, without ever calling a reach truck.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4421124"/>
            <a:ext cx="8503920" cy="493776"/>
          </a:xfrm>
          <a:prstGeom prst="rect">
            <a:avLst/>
          </a:prstGeom>
          <a:solidFill>
            <a:srgbClr val="EBF5EC"/>
          </a:solidFill>
          <a:ln w="12700">
            <a:solidFill>
              <a:srgbClr val="88C9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4394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4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the RT queue never forms because the bottleneck resource is removed from the kit-pick path.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286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FENG 498 Backup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463040" cy="310896"/>
          </a:xfrm>
          <a:prstGeom prst="rect">
            <a:avLst/>
          </a:prstGeom>
          <a:solidFill>
            <a:srgbClr val="1558A8"/>
          </a:solidFill>
          <a:ln w="12700">
            <a:solidFill>
              <a:srgbClr val="155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queue collapses: the numbers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243584"/>
            <a:ext cx="85039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8503920" cy="3589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utilization drops: 21.7% to 1.3% (picking workload)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wait drops: 8.45 min to 4.26 min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Kitting lead time drops: 12.37 min to 6.91 min, a 44% reduction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unchanged: approximately 398 orders/day across all policies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utilization and lead time correlate at r = 0.98 across the six policy means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distance is flat: 89 to 109 m across all policies. The lever is the queue, not the aisle.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286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FENG 498 Backup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463040" cy="310896"/>
          </a:xfrm>
          <a:prstGeom prst="rect">
            <a:avLst/>
          </a:prstGeom>
          <a:solidFill>
            <a:srgbClr val="1558A8"/>
          </a:solidFill>
          <a:ln w="12700">
            <a:solidFill>
              <a:srgbClr val="155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simulation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243584"/>
            <a:ext cx="85039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8503920" cy="30220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live sim: switch to the 3D viewer, select 'Line-aware Slotting', follow Operator 1.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Narrate: picks stay on manual shelves at hand height, near the production line.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RT calls out loud: almost none under this policy.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with Travel-distance Optimized: same walk, but RT utilization 44% and lead time 24.6 min.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message: the absence of RT calls IS the entire effect, made visible.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4421124"/>
            <a:ext cx="8503920" cy="493776"/>
          </a:xfrm>
          <a:prstGeom prst="rect">
            <a:avLst/>
          </a:prstGeom>
          <a:solidFill>
            <a:srgbClr val="EBF5EC"/>
          </a:solidFill>
          <a:ln w="12700">
            <a:solidFill>
              <a:srgbClr val="88C9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4394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4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note: open the sim_v2.html viewer. This slide replaces the live overlay during the presentation.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286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FENG 498 Backup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B7A3D"/>
          </a:solidFill>
          <a:ln w="12700">
            <a:solidFill>
              <a:srgbClr val="2B7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2514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&amp; Stress Test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32004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section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463040" cy="310896"/>
          </a:xfrm>
          <a:prstGeom prst="rect">
            <a:avLst/>
          </a:prstGeom>
          <a:solidFill>
            <a:srgbClr val="1558A8"/>
          </a:solidFill>
          <a:ln w="12700">
            <a:solidFill>
              <a:srgbClr val="155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ranking is robust, and grows under load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243584"/>
            <a:ext cx="85039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8503920" cy="30220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OAT tornado analysis: Line-aware stays ranked first under +/- 20% variation on every input parameter.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sensitivity drivers: operator walk speed (approximately 40% of variance), arrival rate (approximately 39%), RT lift time (approximately 20%).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at 2x demand: the lead-time advantage widens from 6.2 min to 20.7 min.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under doubled load the baselines saturate the RT fleet while Line-aware is already near-RT-free.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the win is not a knife-edge. The policy is robust to uncertainty in input parameters.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4421124"/>
            <a:ext cx="8503920" cy="493776"/>
          </a:xfrm>
          <a:prstGeom prst="rect">
            <a:avLst/>
          </a:prstGeom>
          <a:solidFill>
            <a:srgbClr val="EBF5EC"/>
          </a:solidFill>
          <a:ln w="12700">
            <a:solidFill>
              <a:srgbClr val="88C9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4394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4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figures: sensitivity_tornado_avg_lead_time.png and stress_test_2x.png in the report figures folder.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286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FENG 498 Backup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B7A3D"/>
          </a:solidFill>
          <a:ln w="12700">
            <a:solidFill>
              <a:srgbClr val="2B7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2514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Jury Questions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32004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section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783080" cy="310896"/>
          </a:xfrm>
          <a:prstGeom prst="rect">
            <a:avLst/>
          </a:prstGeom>
          <a:solidFill>
            <a:srgbClr val="1558A8"/>
          </a:solidFill>
          <a:ln w="12700">
            <a:solidFill>
              <a:srgbClr val="155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QUESTION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566928"/>
            <a:ext cx="8503920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03504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random seed the same across policies?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85039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910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883664"/>
            <a:ext cx="8503920" cy="30312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Common Random Numbers (CRN). Seed = 42 + replication index.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policy faces the identical demand stream and service-time draws within a replication.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isolates the policy effect: differences cannot be attributed to luck of the draw.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the comparison paired, which lowers variance, tightens confidence intervals, and increases statistical power.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 varies across the 20 replications (42, 43, ..., 61) to capture real variability. Same seed within a replication keeps the comparison fair.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286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FENG 498 Backup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783080" cy="310896"/>
          </a:xfrm>
          <a:prstGeom prst="rect">
            <a:avLst/>
          </a:prstGeom>
          <a:solidFill>
            <a:srgbClr val="1558A8"/>
          </a:solidFill>
          <a:ln w="12700">
            <a:solidFill>
              <a:srgbClr val="155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QUESTION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566928"/>
            <a:ext cx="8503920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03504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simulation instead of a real pilot?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85039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910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883664"/>
            <a:ext cx="8503920" cy="30312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relocation of materials is costly and operationally disruptive at this scale.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pallet positions would need to move before any result is observable.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disrupting live production in a high-volume MV switchgear plant.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gives every policy the identical demand stream: a fair comparison impossible in a sequential real trial.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use these results to design a small targeted pilot for the top-20 most impactful re-slots.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286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FENG 498 Backup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783080" cy="310896"/>
          </a:xfrm>
          <a:prstGeom prst="rect">
            <a:avLst/>
          </a:prstGeom>
          <a:solidFill>
            <a:srgbClr val="1558A8"/>
          </a:solidFill>
          <a:ln w="12700">
            <a:solidFill>
              <a:srgbClr val="155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QUESTION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566928"/>
            <a:ext cx="8503920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03504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warehouse / company?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85039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910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883664"/>
            <a:ext cx="8503920" cy="30312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industrial case: Schneider Electric Manisa, medium-voltage switchgear production.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operation: approximately 400 kit orders per day, 103 active working days analyzed.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Shared-resource environment: reach trucks, operators, Kardex carousels all compete. That is the interesting bottleneck.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data access: SAP ZWM92 dispatch log (167,784 rows), material master (5,941 items), F400 video time study (2,319 micro-events).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improvement potential: the research question is well-defined and answerable with the available data.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286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FENG 498 Backup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783080" cy="310896"/>
          </a:xfrm>
          <a:prstGeom prst="rect">
            <a:avLst/>
          </a:prstGeom>
          <a:solidFill>
            <a:srgbClr val="1558A8"/>
          </a:solidFill>
          <a:ln w="12700">
            <a:solidFill>
              <a:srgbClr val="155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QUESTION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566928"/>
            <a:ext cx="8503920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03504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six policies, not just the proposed one?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85039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910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883664"/>
            <a:ext cx="8503920" cy="2464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(Actual SAP): the real current operational practice. The benchmark all others must beat.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heuristic: a naive space-filling control. Tests whether any structure helps.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ABC: single-criterion literature method, rank by pick frequency.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ABC: two-criterion literature method, cross-classify by cost and frequency.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Travel-distance Optimized: minimizes walking distance. Included to show distance is the wrong objective.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Line-aware Slotting (proposed): dependency-aware policy. The contribution.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4421124"/>
            <a:ext cx="8503920" cy="49377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4394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full field, the win could be dismissed as cherry-picking. Against all recognized alternatives, it stands.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286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FENG 498 Backup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783080" cy="310896"/>
          </a:xfrm>
          <a:prstGeom prst="rect">
            <a:avLst/>
          </a:prstGeom>
          <a:solidFill>
            <a:srgbClr val="1558A8"/>
          </a:solidFill>
          <a:ln w="12700">
            <a:solidFill>
              <a:srgbClr val="155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QUESTION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566928"/>
            <a:ext cx="8503920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03504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optimizing the layout, or only the storage locations?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85039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910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883664"/>
            <a:ext cx="8503920" cy="2464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optimize storage-assignment decisions only. The physical layout is held fixed.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throughout: rack structure, aisles, resource fleet sizes, milk-run schedule, demand stream.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Optimized: which material goes to which location, manual-band vs reach-truck placement, line-based proximity, kit grouping.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changes are required: zero new hardware, zero construction.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key practical appeal: the improvement is a re-slotting decision, implementable without capital expenditure.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4421124"/>
            <a:ext cx="8503920" cy="49377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4394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storage-assignment optimization within the existing building geometry and fleet.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286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FENG 498 Backup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783080" cy="310896"/>
          </a:xfrm>
          <a:prstGeom prst="rect">
            <a:avLst/>
          </a:prstGeom>
          <a:solidFill>
            <a:srgbClr val="1558A8"/>
          </a:solidFill>
          <a:ln w="12700">
            <a:solidFill>
              <a:srgbClr val="155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QUESTION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566928"/>
            <a:ext cx="8503920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03504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ABC is literature-based. Why did it not beat SAP?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85039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910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883664"/>
            <a:ext cx="8503920" cy="2464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ABC sharpens priority classification, but still treats materials independently by aggregate demand.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capture which production line consumes each item, or which items are co-picked in a kit.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line and kit dependencies, it cannot remove reach-truck calls from the kit-pick path.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Double ABC increases RT utilization from 21.7% to 24.6% and lead time from 12.37 to 14.74 min (versus SAP).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dependency-aware policy fixes the root mechanism. Classification quality alone is insufficient.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4421124"/>
            <a:ext cx="8503920" cy="49377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4394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SAP 12.37 min / 21.7% RT. Double ABC 14.74 min / 24.6% RT. Line-aware 6.91 min / 1.3% RT.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286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FENG 498 Backup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783080" cy="310896"/>
          </a:xfrm>
          <a:prstGeom prst="rect">
            <a:avLst/>
          </a:prstGeom>
          <a:solidFill>
            <a:srgbClr val="1558A8"/>
          </a:solidFill>
          <a:ln w="12700">
            <a:solidFill>
              <a:srgbClr val="155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QUESTION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566928"/>
            <a:ext cx="8503920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03504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goal is speed, why not just minimize walking distance?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85039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910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883664"/>
            <a:ext cx="8503920" cy="2464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Minimizing distance parks the highest-frequency items in the closest rack positions, regardless of level.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closest positions are often on upper levels (level 4+), which require a reach truck.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fast-movers flood the upper shelves, RT calls spike, RT utilization reaches 44%, and lead time hits 24.6 min, the worst performer.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distance under Travel-distance Optimized is 96.1 m, only 7 m more than SAP at 89.0 m. Negligible difference.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in a high-bay shared-resource setting, cutting RT waiting time beats cutting walking distance.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4421124"/>
            <a:ext cx="8503920" cy="49377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4394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Counter-intuitive finding: the policy that walks least has the highest lead time. Distance is the wrong objective.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286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FENG 498 Backup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783080" cy="310896"/>
          </a:xfrm>
          <a:prstGeom prst="rect">
            <a:avLst/>
          </a:prstGeom>
          <a:solidFill>
            <a:srgbClr val="1558A8"/>
          </a:solidFill>
          <a:ln w="12700">
            <a:solidFill>
              <a:srgbClr val="155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QUESTION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566928"/>
            <a:ext cx="8503920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03504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enough manual-band capacity for all the fast-movers?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85039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910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883664"/>
            <a:ext cx="8503920" cy="2464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does not assume unlimited lower-level capacity.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priority ordering: highest-frequency line items are placed first in the manual band (levels 1-3).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priority: co-picked kit items placed in the same aisle or rack module.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shared multi-line materials placed in central accessible zones.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manual band fills, remaining lower-priority items spill upward, in priority order.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benefit comes from getting the most impactful items into the best slots, not from infinite space.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4421124"/>
            <a:ext cx="8503920" cy="49377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4394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Line-aware is a ranking rule, not a claim that every item fits in the ideal slot.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286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FENG 498 Backup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783080" cy="310896"/>
          </a:xfrm>
          <a:prstGeom prst="rect">
            <a:avLst/>
          </a:prstGeom>
          <a:solidFill>
            <a:srgbClr val="1558A8"/>
          </a:solidFill>
          <a:ln w="12700">
            <a:solidFill>
              <a:srgbClr val="155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QUESTION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566928"/>
            <a:ext cx="8503920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03504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reach-truck utilization the key metric?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85039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910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883664"/>
            <a:ext cx="8503920" cy="30312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preparation time is dominated by waiting for a shared reach truck, not by the pick itself.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arrive at the rack location and stand idle until a free RT is available.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RT queue is the binding constraint. Walk distance barely varies across policies (89 to 109 m).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RT dependency, not walking distance, is the direct lever on lead time.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Line-aware drops RT utilization from 21.7% to 1.3% at stable throughput: all six policies deliver approximately 398 orders per day.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utilization and lead time correlate at r = 0.98 across the six policy means: strong empirical support.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286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FENG 498 Backup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783080" cy="310896"/>
          </a:xfrm>
          <a:prstGeom prst="rect">
            <a:avLst/>
          </a:prstGeom>
          <a:solidFill>
            <a:srgbClr val="1558A8"/>
          </a:solidFill>
          <a:ln w="12700">
            <a:solidFill>
              <a:srgbClr val="155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QUESTION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566928"/>
            <a:ext cx="8503920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03504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chi-squared is significant. Doesn't that mean the model is wrong?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85039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910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883664"/>
            <a:ext cx="8503920" cy="2464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The model uses its own routing logic, not a bin-for-bin replay of SAP history.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exact chi-squared match would require replaying the historical dispatch sequence exactly, which defeats the purpose of a simulation study.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effect size, not just the p-value. Cramer's V is approximately 0.24, which is small to moderate.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Chi-squared pooled statistic: chi-sq(7) = 535, using pooled cells to satisfy Cochran's rule (no expected cell below 5).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label this an internal-consistency check, not out-of-sample validation. No independent holdout period was available.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volume calibrated to within 1.1% of the real 396 kits per day. Route sanity: zero agents cross a rack body.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4421124"/>
            <a:ext cx="8503920" cy="49377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4394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at n = 5,900+ with our own routing is expected. Effect size Cramer's V = 0.24 is the honest read.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286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FENG 498 Backup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783080" cy="310896"/>
          </a:xfrm>
          <a:prstGeom prst="rect">
            <a:avLst/>
          </a:prstGeom>
          <a:solidFill>
            <a:srgbClr val="1558A8"/>
          </a:solidFill>
          <a:ln w="12700">
            <a:solidFill>
              <a:srgbClr val="155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QUESTION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566928"/>
            <a:ext cx="8503920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03504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1.27% RT figure hold in a live deployment?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85039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910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883664"/>
            <a:ext cx="8503920" cy="2464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directly: the simulation scope is picking only.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Concentrating fast-movers on lower shelves increases replenishment frequency. Live total RT load will be higher.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1.27% (or 1.3%) reflects picking workload as measured in the model scope.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relative ranking and lead-time advantage are preserved: replenishment load is identical across all six policies and not a differentiator.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Replenishment can be scheduled off-peak (overnight or shift changes), decoupling it from the kitting window.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4421124"/>
            <a:ext cx="8503920" cy="49377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4394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practitioner caveat: replenishment is out of scope but symmetric across policies. The lead-time win stands.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286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FENG 498 Backup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FENG 498 - Backup &amp; Anticipated Questions</dc:title>
  <dc:subject>PptxGenJS Presentation</dc:subject>
  <dc:creator>Deniz Ege Memetoglu</dc:creator>
  <cp:lastModifiedBy>Deniz Ege Memetoglu</cp:lastModifiedBy>
  <cp:revision>1</cp:revision>
  <dcterms:created xsi:type="dcterms:W3CDTF">2026-06-15T19:10:18Z</dcterms:created>
  <dcterms:modified xsi:type="dcterms:W3CDTF">2026-06-15T19:10:18Z</dcterms:modified>
</cp:coreProperties>
</file>
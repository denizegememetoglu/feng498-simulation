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committee. Briefly: we simulated a real 400-order-per-day kitting warehouse using 4 months of actual dispatch records, compared six slotting policies, and show a 44% lead-time improvement with our proposed line-aware policy. All results come from 20 CRN replications with a distribution-driven SimPy model calibrated to the ZWM92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Emphasis: we follow a standard simulation study structure — model first, then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Schneider Electric Manisa plant assembles medium-voltage switchgear. Kitting is the critical path: pickers must assemble a complete bill-of-materials before assembly can start. The current SAP placement was set up for replenishment convenience, not picking efficiency. We quantify the cost and test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warehouse has a clear zone split: low shelves (manual) and high shelves (reach truck). Kardex automated carousels hold ~2,872 materials. The milk-run trains deliver picks to production lines. This physical split is the central lever exploited by the line-aware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three independent data sources, which is a strength of this study. ZWM92 gives us the demand process; the material master gives bin locations for the SAP baseline; the F400 time study anchors all pick-time distributions independently. The fact that the time study was done on F400 but applied to all families is a stated limitation (see slide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'distribution-driven' label matters: we fit empirical distributions to ZWM92 then sample from them each replication — this is what Arena would call a 'fitted distribution' model, not a trace replay. The terminating structure is appropriate because the warehouse empties every day (single shift confirmed by the ZWM92 timestamp profile).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policies span the design space from purely reactive (SAP as-is) to optimized. The key insight preview: Travel-distance optimized WORSENS lead time because it ignores the reach-truck bottleneck — it clusters high-frequency items at elevated slots, causing RT queuing. The line-aware policy explicitly avoids RT-access levels for the most-picked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asked: 'Your model is invalid — chi-squared rejects.' Answer: With n = 5,900 picks the test detects any real deviation. The right question is effect size: Cramér's V = 0.216 is small-to-medium. We have three independent positive channels. We also disclose that expected and observed come from the same data period — this is an internal consistency check, not out-of-sample validation, and we say so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CRN ensures each policy faces the same sequence of demand events, so policy differences are not confounded by stochastic noise. The paired t-test is the primary inferential tool because it exploits the CRN correlation (r ≈ 0.89 for SAP vs Line-aware lead time). Tukey is conservative under CRN but controls family-wise error rate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picture: Line-aware halves lead time compared to every other policy. The middle cluster (Heuristic, Usage-ABC, Double-ABC) are statistically indistinguishable from each other. Travel-distance optimized is the worst performer despite minimizing walk distance — it parks high-frequency items on RT-required shelves, triggering bottleneck queuing. Throughput is identical across all policies (ANOVA p = 1.000).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tables together confirm: (1) policy choice matters massively for lead time and RT utilization; (2) it does NOT affect throughput; (3) Line-aware is uniquely dominant. The paired-t is the primary test — paired CRN pairs give t = −17.47 for Line-aware vs SAP, which is an extraordinarily strong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is counterintuitive: distance is nearly the same across all policies, but lead time varies enormously. The queueing bottleneck — not walking — dominates. Little's Law in action: if RT utilization doubles, wait time more than doubles. The stress-test result (advantage grows at 2× load) confirms this is a structural property, not an artifact of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Sensitivity analysis confirms that the ranking is not fragile. The arrival rate is the most influential parameter — at 2× load, absolute lead times grow for all policies but the relative advantage of Line-aware grows rather than shrinks. This is the structural argument against the 'upper bound' criticism: the mechanism is robust.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implication: the pilot requires no capital expenditure — only a reslotting exercise on ~50–100 bins. The simulation suggests a 5-minute reduction per order at current load; at peak load the benefit is even larger. Throughput is statistically invariant across policies, so there is no capacity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'44% upper bound' question: it is upper bound because the policy was optimized on the same data period used to evaluate it. Temporal Spearman ρ = 0.73 (first vs second half of the log) suggests the ranking is stable, but the magnitude may shrink on new data. We state this clearly in the report and consider it a design choice, not a flaw — a prospective RCT would require withholding a production improvement during the study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repeat the one-sentence summary. Offer to discuss any of the 10 defense questions from the defense notes. Key numbers to have ready: paired-t t=−17.47 p=3.68e−13; ANOVA F=47.07 df=(5,114) p=3.55e−26; Cramér's V=0.216; daily volume error −4.6%. Stress test: Line-aware 6.2→20.7 min vs SAP 13.5→34.1 min at 2×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" name="Image 0" descr="/home/dege/feng498-simulation/report/figures/ie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005840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411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IZMIR UNIVERSITY OF ECONOMICS  ·  INDUSTRIAL ENGINEERING  ·  FENG 498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Layout Optimization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Study of Storage Assignment Policies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Schneider Electric Manisa Plant Warehouse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154680"/>
            <a:ext cx="7772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337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ETENSEL · Deniz Ege MEMETOĞLU · Nehir KONYAR · Elif BOSTANCI · Yiğit KAÇAR · Sümeyra PULÇA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9136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Oktay KARABAĞ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3159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5029200"/>
            <a:ext cx="8046720" cy="1554480"/>
          </a:xfrm>
          <a:prstGeom prst="rect">
            <a:avLst/>
          </a:prstGeom>
          <a:solidFill>
            <a:srgbClr val="1E3F6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5102352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slotting → 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 lead time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(6.91 vs 12.37 min/order)  ·  paired-t  p = 3.68 × 10⁻¹³  ·  N = 20 CRN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58368"/>
            <a:ext cx="54864" cy="7680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&amp; Motivation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81328"/>
            <a:ext cx="54864" cy="7680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8132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Warehouse — System Description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54864" cy="7680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0428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Sources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27248"/>
            <a:ext cx="54864" cy="7680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12724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Simulation Model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50208"/>
            <a:ext cx="54864" cy="7680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95020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Six Slotting Policies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9360" y="65836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65836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65836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Verification &amp; Validation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09360" y="148132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48132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148132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Experimental Design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09360" y="230428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30428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230428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Results &amp; Statistical Tests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09360" y="312724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12724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312724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Sensitivity Analysis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395020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95020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395020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Recommendation &amp; Conclusion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309360" y="4773168"/>
            <a:ext cx="54864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773168"/>
            <a:ext cx="54864" cy="7680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477316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Limitations &amp; Future Work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943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kit orders per day dispatched from a shared warehouse to 9 product-family lines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bin placement is line-unaware — high-frequency parts may sit far from their kitting point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truck queuing: operators wait for RT access to elevated slots, inflating lead time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a slotting policy that reduces order lead time without sacrificing throughput</a:t>
            </a:r>
            <a:endParaRPr lang="en-US" sz="2000" dirty="0"/>
          </a:p>
        </p:txBody>
      </p:sp>
      <p:pic>
        <p:nvPicPr>
          <p:cNvPr id="5" name="Image 0" descr="/home/dege/feng498-simulation/report/figures/warehouse_material_flow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658368"/>
            <a:ext cx="5394960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— System Overview</a:t>
            </a:r>
            <a:endParaRPr lang="en-US" sz="2200" dirty="0"/>
          </a:p>
        </p:txBody>
      </p:sp>
      <p:pic>
        <p:nvPicPr>
          <p:cNvPr id="4" name="Image 0" descr="/home/dege/feng498-simulation/report/figures/layout_top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464493"/>
            <a:ext cx="6400800" cy="4377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5878139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— rack rows A–J, 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3720" y="658368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× 50 m; 11 rack rows (A–J + U); 3,203 pallet positions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levels 1–3; RT required: levels 4+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operators · 7 RTs · 4 Kardex · 7 milk-run trains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shift 07:00–16:00; ~400 kit orders / day</a:t>
            </a:r>
            <a:endParaRPr lang="en-US" sz="1700" dirty="0"/>
          </a:p>
        </p:txBody>
      </p:sp>
      <p:pic>
        <p:nvPicPr>
          <p:cNvPr id="7" name="Image 1" descr="/home/dege/feng498-simulation/report/figures/photo_rt_aisle_CB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2743200"/>
            <a:ext cx="4937760" cy="27774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555726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aisle — racks C, B, 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37490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37490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6583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ZWM92 Dispatch Log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40,804 kit orders · 167,784 rows · 9 product families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Jan 2 – May 18, 2026 (103 active days)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19856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3,885 same-timestamp batches (mean 4.68 kits, CV = 2.04)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4988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IAT distribution: empirical (CV = 2.04, not exponential)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0248" y="658368"/>
            <a:ext cx="37490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0248" y="658368"/>
            <a:ext cx="37490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9976" y="6583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Material Master (özet)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07408" y="126187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5,941 active materials in scope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07408" y="2340864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3,804 with a storage bin; 750 decoded rack/bay/level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3419856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2,872 in Kardex carousels; 412 malformed/undecodable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44988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Modelled pallet positions: 3,101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74736" y="658368"/>
            <a:ext cx="374904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4736" y="658368"/>
            <a:ext cx="374904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6583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F400 Video Time Study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11896" y="126187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2,319 micro-events timed from line-F400 kitting video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1896" y="2340864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Lognormal σ from measured CVs (operator 1.245, RT 1.047, Kardex 1.279)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11896" y="3419856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Pick times: operator 0.113 min, RT 0.110 min, Kardex 0.113 + 0.4 min carousel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11896" y="44988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Extrapolated to all 9 product families (stated limitation)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</a:t>
            </a:r>
            <a:endParaRPr lang="en-US" sz="2200" dirty="0"/>
          </a:p>
        </p:txBody>
      </p:sp>
      <p:pic>
        <p:nvPicPr>
          <p:cNvPr id="4" name="Image 0" descr="/home/dege/feng498-simulation/report/figures/sim_flowchart_si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21792"/>
            <a:ext cx="4809605" cy="5989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629400"/>
            <a:ext cx="48096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lifecycle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685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 DES, Python — distribution-driven (NOT trace replay)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Arrivals: empirical inter-batch gap + empirical batch size (ZWM92)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times: Lognormal with σ from F400 CVs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Terminating: 07:00–16:00 single shift, 30-min warm-up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0" y="3657600"/>
            <a:ext cx="150876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367588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0" y="4315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68312" y="3657600"/>
            <a:ext cx="150876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68312" y="367588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068312" y="4315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Trucks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50224" y="3657600"/>
            <a:ext cx="150876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0224" y="367588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650224" y="4315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Kardex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232136" y="3657600"/>
            <a:ext cx="150876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32136" y="367588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10232136" y="43159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Milk-run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Slotting Policies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11430000" cy="585216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9260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Lead 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(min/order)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SAP placement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As-stored in SAP material master (hybrid SAP + FMR fallback)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12.37 ± 1.07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heuristic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to first available slot by rack scan order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14.71 ± 1.33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ABC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by pick frequency → A/B/C zone, nearest to kitting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15.24 ± 1.44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ABC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ABC by both frequency and volume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14.74 ± 1.35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Travel-distance optimized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total walk distance per material, no level constraint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24.60 ± 3.36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Line-aware slotting ★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Co-locate by production line + prefer manual-access levels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 ± 0.47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Validation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58368"/>
          <a:ext cx="1143000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3657600"/>
                <a:gridCol w="338328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share per rack row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 (df = 9)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537.7,  p = 4.9 × 10⁻¹¹⁰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— but n = 5,900 → high power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Small-to-medium practical deviation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Per-material pick counts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t  (n = 925)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8.75,  p = 9.7 × 10⁻¹⁸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consistency check (in-sample fit)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order volume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vs. actual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 vs. 396.2 orders/day  (−4.6%)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±5% calibration target 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77640"/>
            <a:ext cx="11430000" cy="2651760"/>
          </a:xfrm>
          <a:prstGeom prst="rect">
            <a:avLst/>
          </a:prstGeom>
          <a:solidFill>
            <a:srgbClr val="EDF4F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3977640"/>
            <a:ext cx="64008" cy="2651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023360"/>
            <a:ext cx="11155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The χ² rejection at n ≈ 5,900 reflects very high statistical power, not model failure. Cramér's V = 0.216 indicates small-to-medium practical effect. Three positive evidence channels support adequacy: (1) daily volume within ±5%, (2) independent F400 timing anchor, (3) route and face-validity checks. The per-material paired-t is an in-sample consistency check — we disclose the absence of a holdout period as a stated limitation.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132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policies × 20 replications = 120 simulation runs (N = 20 CRN)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Random Numbers (CRN): policies share arrival and service seeds → variance reduction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arrival seed = 42 + rep;  service seed = 42 + rep + 1,000,003  (independent streams)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analysis: replication-paired t-test (analogous to Minitab paired t on kpi_by_replication.csv)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one-way ANOVA + Tukey HSD across all 6 policies; α = 0.05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955280" y="658368"/>
            <a:ext cx="39319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658368"/>
            <a:ext cx="39319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658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Policies × 20 Reps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207008"/>
            <a:ext cx="73152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2070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835640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36224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36808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37392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37976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9144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40312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40896" y="1335024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12070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011680"/>
            <a:ext cx="73152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Heuristic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835640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36224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36808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37392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37976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38560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9144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39728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40312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40896" y="2139696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6424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2816352"/>
            <a:ext cx="73152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8163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ABC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835640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36224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36808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37392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37976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38560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9144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539728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40312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40896" y="2944368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64240" y="28163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46720" y="3621024"/>
            <a:ext cx="73152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36210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ABC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835640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36224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36808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37392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37976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338560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39144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39728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640312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740896" y="3749040"/>
            <a:ext cx="82296" cy="8229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6424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046720" y="4425696"/>
            <a:ext cx="73152" cy="548640"/>
          </a:xfrm>
          <a:prstGeom prst="rect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44256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Travel-dist. Opt.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0835640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36224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36808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137392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37976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338560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39144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39728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40312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40896" y="4553712"/>
            <a:ext cx="82296" cy="82296"/>
          </a:xfrm>
          <a:prstGeom prst="ellipse">
            <a:avLst/>
          </a:prstGeom>
          <a:solidFill>
            <a:srgbClr val="D04A4A"/>
          </a:solidFill>
          <a:ln w="12700">
            <a:solidFill>
              <a:srgbClr val="D04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064240" y="44256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046720" y="5230368"/>
            <a:ext cx="73152" cy="548640"/>
          </a:xfrm>
          <a:prstGeom prst="rect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0" y="5230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★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0835640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936224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036808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137392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237976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338560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439144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539728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640312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740896" y="5358384"/>
            <a:ext cx="82296" cy="82296"/>
          </a:xfrm>
          <a:prstGeom prst="ellipse">
            <a:avLst/>
          </a:prstGeom>
          <a:solidFill>
            <a:srgbClr val="1F7A3E"/>
          </a:solidFill>
          <a:ln w="12700">
            <a:solidFill>
              <a:srgbClr val="1F7A3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064240" y="5230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046720" y="6062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runs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KPI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21792"/>
            <a:ext cx="64008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67665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6.91 ± 0.47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330452"/>
            <a:ext cx="2587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lead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6217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621792"/>
            <a:ext cx="64008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67665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12.37 ± 1.07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55848" y="1330452"/>
            <a:ext cx="2587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6217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621792"/>
            <a:ext cx="64008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67665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  (−5.46 min)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81928" y="1330452"/>
            <a:ext cx="2587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improvement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6217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98280" y="621792"/>
            <a:ext cx="64008" cy="1143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67665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→ 1.3%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08008" y="1330452"/>
            <a:ext cx="2587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util SAP → Line-aware</a:t>
            </a:r>
            <a:endParaRPr lang="en-US" sz="1200" dirty="0"/>
          </a:p>
        </p:txBody>
      </p:sp>
      <p:pic>
        <p:nvPicPr>
          <p:cNvPr id="20" name="Image 0" descr="/home/dege/feng498-simulation/report/figures/polic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783080"/>
            <a:ext cx="1152144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Statistical Tests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 (6 policies, 20 reps each)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577840" cy="301752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82296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d.f.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Kitting lead time (min)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(5,114)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 × 10⁻²⁶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waiting time (min)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(5,114)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9.86 × 10⁻²¹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Reach-truck utilization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430.06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(5,114)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 × 10⁻⁷²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(orders/day)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(5,114)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 ← no diff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distance (m/order)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464.15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(5,114)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 × 10⁻⁷⁴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640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Replication-Paired t-test vs. SAP  (CRN, N = 20)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051560"/>
          <a:ext cx="557784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82296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vs. SAP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heuristic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+2.34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 × 10⁻¹⁰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ABC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+2.87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 × 10⁻⁰⁹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ABC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+2.37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 × 10⁻⁰⁹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Travel-dist. opt.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+12.23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 × 10⁻⁰⁹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Line-aware slotting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−5.46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 × 10⁻¹³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206240"/>
            <a:ext cx="11430000" cy="2423160"/>
          </a:xfrm>
          <a:prstGeom prst="rect">
            <a:avLst/>
          </a:prstGeom>
          <a:solidFill>
            <a:srgbClr val="EDF4F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206240"/>
            <a:ext cx="64008" cy="2423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251960"/>
            <a:ext cx="11155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HSD: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cluster (Heuristic, Usage-ABC, Double-ABC) are statistically indistinguishable (all pairwise p &gt; 0.15).  </a:t>
            </a:r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separates from ALL others (p &lt; 10⁻⁸).  Travel-distance worst (p &lt; 10⁻⁸ worse than SAP).  ANOVA throughput p = 1.000: capacity is preserved.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— Queue Leverage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distance range is narrow: 89–109 m across all policies (±10%)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range is vast: 6.9–24.6 min — a 3.6× spread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RT is a shared bottleneck; queuing amplifies any additional RT demand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→ RT util 1.3% vs SAP 21.7% (Travel-dist 44%)</a:t>
            </a:r>
            <a:endParaRPr lang="en-US" sz="1900" dirty="0"/>
          </a:p>
        </p:txBody>
      </p:sp>
      <p:pic>
        <p:nvPicPr>
          <p:cNvPr id="5" name="Image 0" descr="/home/dege/feng498-simulation/report/figures/prep_time_box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658368"/>
            <a:ext cx="5760720" cy="3456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414223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(wait + pick) time distribution by policy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5394960" cy="2011680"/>
          </a:xfrm>
          <a:prstGeom prst="rect">
            <a:avLst/>
          </a:prstGeom>
          <a:solidFill>
            <a:srgbClr val="EDF4F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617720"/>
            <a:ext cx="64008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6634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at 2× load: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6.2 → 20.7 min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baseline 13.5 → 34.1 min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Advantage grows under load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— Ranking Robustness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tornado: pick times, arrival rate, RT count, warm-up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ranking robust across all ±30% perturbations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RT-utilization gap (≈20 pp) preserved throughout</a:t>
            </a:r>
            <a:endParaRPr lang="en-US" sz="1800" dirty="0"/>
          </a:p>
        </p:txBody>
      </p:sp>
      <p:pic>
        <p:nvPicPr>
          <p:cNvPr id="5" name="Image 0" descr="/home/dege/feng498-simulation/report/figures/sensitivity_tornado_avg_lead_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4296" y="2240280"/>
            <a:ext cx="6423102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84296" y="6675120"/>
            <a:ext cx="6423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chart — avg. kitting lead time  (OAT ±30%)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1430000" cy="1371600"/>
          </a:xfrm>
          <a:prstGeom prst="rect">
            <a:avLst/>
          </a:prstGeom>
          <a:solidFill>
            <a:srgbClr val="1A3A5C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49808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Line-aware slotting: −44% lead time (6.91 vs 12.37 min),  t = −17.47,  p = 3.68 × 10⁻¹³,  throughput unchanged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5486400" cy="187452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64008" cy="1874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86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recommendation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72491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Reslot 50–100 fast-movers for a single product line to manual-access levels. Measure actual lead time before/after.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240280"/>
            <a:ext cx="5486400" cy="187452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240280"/>
            <a:ext cx="64008" cy="1874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2286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 strategy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72491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top-20 high-pick materials per line (X14 panel analysis). Zero new hardware required.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5486400" cy="187452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343400"/>
            <a:ext cx="64008" cy="1874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389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evidence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482803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2× daily volume: Line-aware 20.7 min vs SAP 34.1 min — the advantage grows, confirming structural improvement.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4343400"/>
            <a:ext cx="5486400" cy="187452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4343400"/>
            <a:ext cx="64008" cy="1874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4389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preserved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45352" y="482803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 = 1.000 for orders/day: the recommendation does not risk capacity. RT is freed, not overloaded.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539496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2120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F400 timing extrapolated to all 9 families — per-line video needed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decode rate 12.6%; remaining 87.4% use FMR fallback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fit only: Jan–May 2026 data, no holdout (Spearman ρ = 0.73 suggests stability)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&amp; slot depletion out of scope — affects absolute lead times, not ranking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658368"/>
            <a:ext cx="5394960" cy="4389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6583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188720"/>
            <a:ext cx="52120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validation: new 2–3 month ZWM92 export for out-of-sample test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Per-line time-motion studies for each product family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X14 pilot: reslot top-20 materials for one line, measure real lead time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integration: slot-capacity depletion and scheduling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658368"/>
            <a:ext cx="0" cy="5943600"/>
          </a:xfrm>
          <a:prstGeom prst="line">
            <a:avLst/>
          </a:prstGeom>
          <a:noFill/>
          <a:ln w="19050">
            <a:solidFill>
              <a:srgbClr val="D1DCE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9418320" cy="2194560"/>
          </a:xfrm>
          <a:prstGeom prst="rect">
            <a:avLst/>
          </a:prstGeom>
          <a:solidFill>
            <a:srgbClr val="1E3F60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28016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“In a shared-resource kitting environment,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a shorter order runs through the queue,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through the aisle.”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611880"/>
            <a:ext cx="2468880" cy="137160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reduction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3611880"/>
            <a:ext cx="2468880" cy="137160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 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util. freed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611880"/>
            <a:ext cx="2468880" cy="137160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3.68×10⁻¹³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  (N = 20 CRN)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3611880"/>
            <a:ext cx="2468880" cy="1371600"/>
          </a:xfrm>
          <a:prstGeom prst="rect">
            <a:avLst/>
          </a:prstGeom>
          <a:solidFill>
            <a:srgbClr val="1E3F60"/>
          </a:solidFill>
          <a:ln w="12700">
            <a:solidFill>
              <a:srgbClr val="2D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unchanged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557784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Deniz Ege Memetoğlu · denizegememetoglu@gmail.com · IUE Industrial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Layout Optimization — FENG 498 Defense</dc:title>
  <dc:subject>PptxGenJS Presentation</dc:subject>
  <dc:creator>Deniz Ege Memetoğlu</dc:creator>
  <cp:lastModifiedBy>Deniz Ege Memetoğlu</cp:lastModifiedBy>
  <cp:revision>1</cp:revision>
  <dcterms:created xsi:type="dcterms:W3CDTF">2026-06-12T12:46:35Z</dcterms:created>
  <dcterms:modified xsi:type="dcterms:W3CDTF">2026-06-12T12:46:35Z</dcterms:modified>
</cp:coreProperties>
</file>
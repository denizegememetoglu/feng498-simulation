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Methodology &amp; Simulation</a:t>
            </a:r>
          </a:p>
          <a:p>
            <a:r>
              <a:rPr sz="2200">
                <a:solidFill>
                  <a:srgbClr val="9FC9A8"/>
                </a:solidFill>
              </a:rPr>
              <a:t>Backup Q&amp;A, anticipated jury questions</a:t>
            </a:r>
          </a:p>
          <a:p>
            <a:pPr>
              <a:spcBef>
                <a:spcPts val="1800"/>
              </a:spcBef>
            </a:pPr>
            <a:r>
              <a:rPr sz="1600">
                <a:solidFill>
                  <a:srgbClr val="C7D2DD"/>
                </a:solidFill>
              </a:rPr>
              <a:t>Deniz Ege Memetoglu  |  FENG 498  | 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8A9AAB"/>
                </a:solidFill>
              </a:rPr>
              <a:t>Plain backup sheet. Open in a second tab during Q&amp;A. Numbers verified from the simulation output files.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Q1.  Is this a trace replay of the logs, or a real model?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18A3A"/>
                </a:solidFill>
              </a:rPr>
              <a:t>Distribution-driven, not a replay.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I fit distributions (inter-batch gap, batch size, kit composition, pick times) from 4 months of the ZWM92 dispatch log: 167,784 rows, 40,804 kit orders, 103 active days.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The model SAMPLES from those distributions, it does not play history back.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That is exactly what lets me move materials to new locations and re-run the SAME warehouse under a different policy. A replay could never test a new layout.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Built in Python with SimPy (discrete-event simulation).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672"/>
                </a:solidFill>
              </a:rPr>
              <a:t>Deniz Ege | Methodology &amp; Simulation | backup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Q2.  Why discrete-event simulation instead of a formula or a real pilot?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18A3A"/>
                </a:solidFill>
              </a:rPr>
              <a:t>The bottleneck is queueing, which only DES captures.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The delay is operators waiting for a shared reach-truck fleet, plus a cascade: an order holds its slot while it waits, delaying the next order.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Static/analytic models assume average flow and miss this contention.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A real pilot means physically moving pallets first; the simulation tests the policy at zero cost and zero risk, then we recommend a pilot as future work.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Shared resources modelled: 8 operators, 7 reach trucks, 4 Kardex units, pallet-position locks.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672"/>
                </a:solidFill>
              </a:rPr>
              <a:t>Deniz Ege | Methodology &amp; Simulation | backup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Q3.  Where do the pick / handling times come from?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18A3A"/>
                </a:solidFill>
              </a:rPr>
              <a:t>From a video time-motion study of the F400 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2,319 micro-events, 296.6 observed minutes, coded from the F400 kitting video.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Service times are lognormal with spread set by the measured CV:  sigma = sqrt(ln(1 + CV^2)).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Means: operator pick 0.113 min, reach-truck pick+place 0.110, manual penalty 0.102, Kardex pick 0.113.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Sigmas: operator 1.245, reach-truck 1.047, manual 1.279 (moment-matched from the video CVs).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672"/>
                </a:solidFill>
              </a:rPr>
              <a:t>Deniz Ege | Methodology &amp; Simulation | backup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Q4.  How did you validate the Kardex timing? There was no Kardex video.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18A3A"/>
                </a:solidFill>
              </a:rPr>
              <a:t>Honest answer: it is an assumption, and it cannot bias the comparison.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No Kardex-specific footage existed, so Kardex pick mean and CV MIRROR the F400 operator pick (0.113 min, sigma 1.245); carousel turn 0.4 min, sigma 0.30 (book value).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This is disclosed openly in the report and assumptions.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Kardex routing is identical across all six policies, so any timing error cancels out of the policy comparison; it shifts levels, not the ranking.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672"/>
                </a:solidFill>
              </a:rPr>
              <a:t>Deniz Ege | Methodology &amp; Simulation | backup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Q5.  F400 timing is extrapolated to 9 product families. What if F400 is unrepresentative?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18A3A"/>
                </a:solidFill>
              </a:rPr>
              <a:t>Sensitivity analysis bounds the risk; rankings are preserved.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F400 is about 29% of dispatch rows; its timing is applied to the other 8 families.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A one-at-a-time sensitivity sweep shifts every timing input by +/-20%.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Line-aware Slotting stays the #1 policy under every swing; lead time moves proportionally, the conclusion does not flip.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Per-line video time studies are listed as future work to retire this limitation.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672"/>
                </a:solidFill>
              </a:rPr>
              <a:t>Deniz Ege | Methodology &amp; Simulation | backup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Q6.  Why model batch arrivals, and does the arrival rate match reality?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18A3A"/>
                </a:solidFill>
              </a:rPr>
              <a:t>Because the real log arrives in batches, and the rate calibrates within ~1%.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ZWM92 shows 3,885 same-timestamp batches, mean 4.68 kits per batch.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Inter-batch gap mean 5.36 min with CV 2.04, so it is empirical, not Exponential.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Analytic rate is about 419 orders/day; the full 20-replication runs measure ~398-400/day, within 1.1% of the real 396/day average.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A single short 2-day check gave 378/day (-4.6%); all are inside the +/-10% band.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672"/>
                </a:solidFill>
              </a:rPr>
              <a:t>Deniz Ege | Methodology &amp; Simulation | backup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Q7.  Why 20 replications, and why the same seeds across policies?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18A3A"/>
                </a:solidFill>
              </a:rPr>
              <a:t>Common Random Numbers, and 20 runs separate the policies cleanly.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Each policy runs N=20 replications; replication i uses seed 42+i, with separate streams for arrivals and service times.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CRN means every policy faces the EXACT same demand, so differences are the policy, not luck.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6 policies x 20 = 120 runs (Minitab-ready).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95% confidence intervals (t, df=19) for Line-aware and the baselines are narrow and do NOT overlap, which is why 20 is enough.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672"/>
                </a:solidFill>
              </a:rPr>
              <a:t>Deniz Ege | Methodology &amp; Simulation | backup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Q8.  Your chi-square is highly significant. Doesn't that mean the model is wrong?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18A3A"/>
                </a:solidFill>
              </a:rPr>
              <a:t>No. Significance is expected here; read the effect size.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Pooled chi^2(7) = 535.05, p &lt; 0.001, but Cramer's V = 0.22 (small-to-moderate effect).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It is significant because the model uses its OWN routing logic, not a bin-for-bin replay; an exact match would only happen if we replayed history, defeating the purpose.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This is an internal-consistency check, not out-of-sample validation.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Other checks: daily volume within 1.1%, and zero rack crossings in the 3D route audit.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672"/>
                </a:solidFill>
              </a:rPr>
              <a:t>Deniz Ege | Methodology &amp; Simulation | backup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Q9.  You fitted and validated on the same ZWM92 data. No holdout?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18A3A"/>
                </a:solidFill>
              </a:rPr>
              <a:t>Correct, and it is disclosed; no independent period was available.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SAP never logged waiting times or reach-truck calls, so there was no separate observation period to hold out.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Independent grounding still exists: the F400 video anchors the timing, daily volume calibrates to within 1.1%, and the 3D viewer confirms physically valid routes.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We label these as internal-consistency tests, not a true holdout, on the limitations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672"/>
                </a:solidFill>
              </a:rPr>
              <a:t>Deniz Ege | Methodology &amp; Simulation | backup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Q10.  Aisle congestion is not modelled. Doesn't that invalidate the results?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18A3A"/>
                </a:solidFill>
              </a:rPr>
              <a:t>It makes absolute times slightly optimistic, but the ranking is safe.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Operators and trucks pass freely in shared corridors, so high-load lead times are a little optimistic.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All six policies share this assumption symmetrically, so the comparison is fair.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Adding congestion would only WIDEN Line-aware's lead, since the baselines saturate the reach-truck fleet far more (Travel-distance hits 44% RT utilization).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672"/>
                </a:solidFill>
              </a:rPr>
              <a:t>Deniz Ege | Methodology &amp; Simulation | backup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Q11.  How real is the 'Actual SAP' baseline?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18A3A"/>
                </a:solidFill>
              </a:rPr>
              <a:t>It is an honestly-labelled SAP-plus-heuristic hybrid.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750 materials sit at their exact decoded SAP rack-bay-position; 2,872 are Kardex-routed (policy-invariant); the rest fall to an FMR heuristic fallback.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386 materials have multiple SAP bins and are not split into forward vs reserve.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We never claim a pure bin-for-bin replay; it is the best reconstruction the decoded SAP data allows, and it is the validation ground truth.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672"/>
                </a:solidFill>
              </a:rPr>
              <a:t>Deniz Ege | Methodology &amp; Simulation | backup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Q12.  Throughput barely changes and RT utilization is only 1.3%. Is that believable?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18A3A"/>
                </a:solidFill>
              </a:rPr>
              <a:t>Yes: the system is demand-limited, and 1.3% is picking-only.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Every policy sees the same arrival stream, so throughput is ~398/day for all of them (ANOVA F about 0.01, p about 1.0). The win is in lead/wait, not output.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RT utilization 1.3% reflects PICKING workload only; replenishment is excluded for ALL policies equally, so the comparison stays fair.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In a live deployment total RT load would be higher once replenishment is added; this is the key caveat we disclose.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672"/>
                </a:solidFill>
              </a:rPr>
              <a:t>Deniz Ege | Methodology &amp; Simulation | backup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Q13.  What about the milk-run trains?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18A3A"/>
                </a:solidFill>
              </a:rPr>
              <a:t>Defined in the model, but operator-carried in the headline runs.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The model represents 7 milk-run trains as an available transport mode.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In the reported configuration the operator carries the finished kit to the line (milk-run delivery is switched off), so reported lead time is attributed to operator and reach-truck only.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This is a modelling choice, disclosed; enabling milk-run would offload operator walking, it does not change the reach-truck queue that drives the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672"/>
                </a:solidFill>
              </a:rPr>
              <a:t>Deniz Ege | Methodology &amp; Simulation | backup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F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Q14.  Is the warehouse layout real or invented?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18A3A"/>
                </a:solidFill>
              </a:rPr>
              <a:t>Reconstructed from the real AutoCAD drawing and rack PDFs.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Geometry from the AutoCAD DWG plus 11 per-rack pallet PDFs, cross-checked by a blind CAD extraction.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11 rack rows (A-J and U); 3,101 modelled pallet positions reconcile with the 3,203 drawing capacity (the 102 gap = narrower feeder bays plus a cart-parking slot).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3"/>
                </a:solidFill>
              </a:rPr>
              <a:t>•  5,941 active materials processed; this is a faithful digital twin of the floor.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672"/>
                </a:solidFill>
              </a:rPr>
              <a:t>Deniz Ege | Methodology &amp; Simulation | backup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One-glance numbers (Line-aware vs SAP baseline, N=20 CRN)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74765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Line-aware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SAP baseline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Change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3"/>
                          </a:solidFill>
                        </a:rPr>
                        <a:t>Lead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18A3A"/>
                          </a:solidFill>
                        </a:rPr>
                        <a:t>6.91 min   [6.44, 7.38]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3"/>
                          </a:solidFill>
                        </a:rPr>
                        <a:t>12.37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3"/>
                          </a:solidFill>
                        </a:rPr>
                        <a:t>-44%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3"/>
                          </a:solidFill>
                        </a:rPr>
                        <a:t>Operator waiting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18A3A"/>
                          </a:solidFill>
                        </a:rPr>
                        <a:t>4.26 min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3"/>
                          </a:solidFill>
                        </a:rPr>
                        <a:t>8.45 min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3"/>
                          </a:solidFill>
                        </a:rPr>
                        <a:t>-50%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3"/>
                          </a:solidFill>
                        </a:rPr>
                        <a:t>Reach-truck utilization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18A3A"/>
                          </a:solidFill>
                        </a:rPr>
                        <a:t>1.27%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3"/>
                          </a:solidFill>
                        </a:rPr>
                        <a:t>21.71%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3"/>
                          </a:solidFill>
                        </a:rPr>
                        <a:t>-20.4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3"/>
                          </a:solidFill>
                        </a:rPr>
                        <a:t>Operator utilization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18A3A"/>
                          </a:solidFill>
                        </a:rPr>
                        <a:t>27.5%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3"/>
                          </a:solidFill>
                        </a:rPr>
                        <a:t>40.5%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3"/>
                          </a:solidFill>
                        </a:rPr>
                        <a:t>lower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3"/>
                          </a:solidFill>
                        </a:rPr>
                        <a:t>Walking distance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18A3A"/>
                          </a:solidFill>
                        </a:rPr>
                        <a:t>92.4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3"/>
                          </a:solidFill>
                        </a:rPr>
                        <a:t>89.0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3"/>
                          </a:solidFill>
                        </a:rPr>
                        <a:t>+3.8%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3"/>
                          </a:solidFill>
                        </a:rPr>
                        <a:t>Throughput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18A3A"/>
                          </a:solidFill>
                        </a:rPr>
                        <a:t>398.6 / day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3"/>
                          </a:solidFill>
                        </a:rPr>
                        <a:t>398.5 / day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3"/>
                          </a:solidFill>
                        </a:rPr>
                        <a:t>unchanged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852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B6672"/>
                </a:solidFill>
              </a:rPr>
              <a:t>Effect size: Cohen's d = 3.10. Paired-t vs SAP: t about -17.5, p about 3.7e-13.</a:t>
            </a:r>
          </a:p>
          <a:p>
            <a:r>
              <a:rPr sz="1200">
                <a:solidFill>
                  <a:srgbClr val="5B6672"/>
                </a:solidFill>
              </a:rPr>
              <a:t>ANOVA: lead F=47.07 (eta^2=0.67), RT util F=430 (eta^2=0.95), throughput F about 0.01 (no effect).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